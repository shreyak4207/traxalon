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1" r:id="rId1"/>
  </p:sldMasterIdLst>
  <p:notesMasterIdLst>
    <p:notesMasterId r:id="rId15"/>
  </p:notesMasterIdLst>
  <p:sldIdLst>
    <p:sldId id="256" r:id="rId2"/>
    <p:sldId id="259" r:id="rId3"/>
    <p:sldId id="269" r:id="rId4"/>
    <p:sldId id="267" r:id="rId5"/>
    <p:sldId id="260" r:id="rId6"/>
    <p:sldId id="270" r:id="rId7"/>
    <p:sldId id="261" r:id="rId8"/>
    <p:sldId id="271" r:id="rId9"/>
    <p:sldId id="274" r:id="rId10"/>
    <p:sldId id="275" r:id="rId11"/>
    <p:sldId id="276" r:id="rId12"/>
    <p:sldId id="265" r:id="rId13"/>
    <p:sldId id="266" r:id="rId14"/>
  </p:sldIdLst>
  <p:sldSz cx="18288000" cy="10287000"/>
  <p:notesSz cx="6858000" cy="9144000"/>
  <p:embeddedFontLst>
    <p:embeddedFont>
      <p:font typeface="Arial Bold" panose="020B0704020202020204" pitchFamily="34" charset="0"/>
      <p:bold r:id="rId16"/>
    </p:embeddedFont>
    <p:embeddedFont>
      <p:font typeface="Bebas Neue" panose="020B0606020202050201" pitchFamily="34" charset="0"/>
      <p:regular r:id="rId17"/>
    </p:embeddedFont>
    <p:embeddedFont>
      <p:font typeface="Cambria" panose="02040503050406030204" pitchFamily="18" charset="0"/>
      <p:regular r:id="rId18"/>
      <p:bold r:id="rId19"/>
      <p:italic r:id="rId20"/>
      <p:boldItalic r:id="rId21"/>
    </p:embeddedFont>
    <p:embeddedFont>
      <p:font typeface="EB Garamond Semi-Bold" panose="020B0604020202020204" charset="0"/>
      <p:regular r:id="rId22"/>
      <p:bold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Times New Roman Bold" panose="02020803070505020304" pitchFamily="18" charset="0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557" autoAdjust="0"/>
  </p:normalViewPr>
  <p:slideViewPr>
    <p:cSldViewPr>
      <p:cViewPr varScale="1">
        <p:scale>
          <a:sx n="50" d="100"/>
          <a:sy n="50" d="100"/>
        </p:scale>
        <p:origin x="946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342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361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342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AC0C40E8-0040-F5F5-C1D4-F343EFE7A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>
            <a:extLst>
              <a:ext uri="{FF2B5EF4-FFF2-40B4-BE49-F238E27FC236}">
                <a16:creationId xmlns:a16="http://schemas.microsoft.com/office/drawing/2014/main" id="{9F8017A8-6A6A-A879-A4DA-69547D9EA3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>
            <a:extLst>
              <a:ext uri="{FF2B5EF4-FFF2-40B4-BE49-F238E27FC236}">
                <a16:creationId xmlns:a16="http://schemas.microsoft.com/office/drawing/2014/main" id="{091A88EE-7924-D1E1-77D9-7598B57D6F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8103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4030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74E35005-5B2E-F7C9-A8D1-BD42C0CFA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>
            <a:extLst>
              <a:ext uri="{FF2B5EF4-FFF2-40B4-BE49-F238E27FC236}">
                <a16:creationId xmlns:a16="http://schemas.microsoft.com/office/drawing/2014/main" id="{9D26D877-B930-6227-1614-122FF07BA0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6:notes">
            <a:extLst>
              <a:ext uri="{FF2B5EF4-FFF2-40B4-BE49-F238E27FC236}">
                <a16:creationId xmlns:a16="http://schemas.microsoft.com/office/drawing/2014/main" id="{99F12F2C-BE4E-C57D-88E3-22C037B5DF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34133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704BB1C2-044F-B613-4160-66F922BA6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>
            <a:extLst>
              <a:ext uri="{FF2B5EF4-FFF2-40B4-BE49-F238E27FC236}">
                <a16:creationId xmlns:a16="http://schemas.microsoft.com/office/drawing/2014/main" id="{BC8AA92E-4A3E-9B90-7A3F-80A8131070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6:notes">
            <a:extLst>
              <a:ext uri="{FF2B5EF4-FFF2-40B4-BE49-F238E27FC236}">
                <a16:creationId xmlns:a16="http://schemas.microsoft.com/office/drawing/2014/main" id="{502C9F17-EE0E-D3EA-282C-99D24134B7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8154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250CBB72-9FBB-762B-A4BB-C3E0E0EF2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>
            <a:extLst>
              <a:ext uri="{FF2B5EF4-FFF2-40B4-BE49-F238E27FC236}">
                <a16:creationId xmlns:a16="http://schemas.microsoft.com/office/drawing/2014/main" id="{726C71C4-08E1-CE57-C4B3-D567E4B8ED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6:notes">
            <a:extLst>
              <a:ext uri="{FF2B5EF4-FFF2-40B4-BE49-F238E27FC236}">
                <a16:creationId xmlns:a16="http://schemas.microsoft.com/office/drawing/2014/main" id="{6227CB97-747E-F0E5-6D00-984EAC1D8A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2729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261DFE0B-3C60-3855-743C-D60679FAD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>
            <a:extLst>
              <a:ext uri="{FF2B5EF4-FFF2-40B4-BE49-F238E27FC236}">
                <a16:creationId xmlns:a16="http://schemas.microsoft.com/office/drawing/2014/main" id="{93FC693F-CE51-5236-D2A4-3D94086E1A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6:notes">
            <a:extLst>
              <a:ext uri="{FF2B5EF4-FFF2-40B4-BE49-F238E27FC236}">
                <a16:creationId xmlns:a16="http://schemas.microsoft.com/office/drawing/2014/main" id="{03E0B33D-3645-8304-E1C4-137ACF31EE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40844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5923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857501"/>
            <a:ext cx="15087600" cy="3890963"/>
          </a:xfrm>
        </p:spPr>
        <p:txBody>
          <a:bodyPr anchor="b"/>
          <a:lstStyle>
            <a:lvl1pPr>
              <a:defRPr sz="118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6858000"/>
            <a:ext cx="12923520" cy="1600200"/>
          </a:xfrm>
        </p:spPr>
        <p:txBody>
          <a:bodyPr anchor="t">
            <a:normAutofit/>
          </a:bodyPr>
          <a:lstStyle>
            <a:lvl1pPr marL="0" indent="0" algn="l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816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6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2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7" y="8229600"/>
            <a:ext cx="15319374" cy="1752600"/>
          </a:xfrm>
        </p:spPr>
        <p:txBody>
          <a:bodyPr anchor="t"/>
          <a:lstStyle>
            <a:lvl1pPr algn="l">
              <a:defRPr sz="64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7" y="5779295"/>
            <a:ext cx="12271374" cy="2450307"/>
          </a:xfrm>
        </p:spPr>
        <p:txBody>
          <a:bodyPr anchor="b"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816422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32844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3pPr>
            <a:lvl4pPr marL="2449266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4pPr>
            <a:lvl5pPr marL="3265688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5pPr>
            <a:lvl6pPr marL="408211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6pPr>
            <a:lvl7pPr marL="4898532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7pPr>
            <a:lvl8pPr marL="5714954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8pPr>
            <a:lvl9pPr marL="6531376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304288"/>
            <a:ext cx="7315200" cy="6885432"/>
          </a:xfrm>
        </p:spPr>
        <p:txBody>
          <a:bodyPr/>
          <a:lstStyle>
            <a:lvl1pPr>
              <a:defRPr sz="5000"/>
            </a:lvl1pPr>
            <a:lvl2pPr>
              <a:defRPr sz="43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39200" y="2304288"/>
            <a:ext cx="7315200" cy="6885432"/>
          </a:xfrm>
        </p:spPr>
        <p:txBody>
          <a:bodyPr/>
          <a:lstStyle>
            <a:lvl1pPr>
              <a:defRPr sz="5000"/>
            </a:lvl1pPr>
            <a:lvl2pPr>
              <a:defRPr sz="43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7315200" cy="959643"/>
          </a:xfrm>
        </p:spPr>
        <p:txBody>
          <a:bodyPr anchor="b"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  <a:lvl2pPr marL="816422" indent="0">
              <a:buNone/>
              <a:defRPr sz="3600" b="1"/>
            </a:lvl2pPr>
            <a:lvl3pPr marL="1632844" indent="0">
              <a:buNone/>
              <a:defRPr sz="3200" b="1"/>
            </a:lvl3pPr>
            <a:lvl4pPr marL="2449266" indent="0">
              <a:buNone/>
              <a:defRPr sz="2900" b="1"/>
            </a:lvl4pPr>
            <a:lvl5pPr marL="3265688" indent="0">
              <a:buNone/>
              <a:defRPr sz="2900" b="1"/>
            </a:lvl5pPr>
            <a:lvl6pPr marL="4082110" indent="0">
              <a:buNone/>
              <a:defRPr sz="2900" b="1"/>
            </a:lvl6pPr>
            <a:lvl7pPr marL="4898532" indent="0">
              <a:buNone/>
              <a:defRPr sz="2900" b="1"/>
            </a:lvl7pPr>
            <a:lvl8pPr marL="5714954" indent="0">
              <a:buNone/>
              <a:defRPr sz="2900" b="1"/>
            </a:lvl8pPr>
            <a:lvl9pPr marL="6531376" indent="0">
              <a:buNone/>
              <a:defRPr sz="2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3"/>
            <a:ext cx="7315200" cy="5926932"/>
          </a:xfrm>
        </p:spPr>
        <p:txBody>
          <a:bodyPr/>
          <a:lstStyle>
            <a:lvl1pPr>
              <a:defRPr sz="4300"/>
            </a:lvl1pPr>
            <a:lvl2pPr>
              <a:defRPr sz="36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39200" y="2302670"/>
            <a:ext cx="7315200" cy="959643"/>
          </a:xfrm>
        </p:spPr>
        <p:txBody>
          <a:bodyPr anchor="b"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  <a:lvl2pPr marL="816422" indent="0">
              <a:buNone/>
              <a:defRPr sz="3600" b="1"/>
            </a:lvl2pPr>
            <a:lvl3pPr marL="1632844" indent="0">
              <a:buNone/>
              <a:defRPr sz="3200" b="1"/>
            </a:lvl3pPr>
            <a:lvl4pPr marL="2449266" indent="0">
              <a:buNone/>
              <a:defRPr sz="2900" b="1"/>
            </a:lvl4pPr>
            <a:lvl5pPr marL="3265688" indent="0">
              <a:buNone/>
              <a:defRPr sz="2900" b="1"/>
            </a:lvl5pPr>
            <a:lvl6pPr marL="4082110" indent="0">
              <a:buNone/>
              <a:defRPr sz="2900" b="1"/>
            </a:lvl6pPr>
            <a:lvl7pPr marL="4898532" indent="0">
              <a:buNone/>
              <a:defRPr sz="2900" b="1"/>
            </a:lvl7pPr>
            <a:lvl8pPr marL="5714954" indent="0">
              <a:buNone/>
              <a:defRPr sz="2900" b="1"/>
            </a:lvl8pPr>
            <a:lvl9pPr marL="6531376" indent="0">
              <a:buNone/>
              <a:defRPr sz="2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39200" y="3262313"/>
            <a:ext cx="7315200" cy="5926932"/>
          </a:xfrm>
        </p:spPr>
        <p:txBody>
          <a:bodyPr/>
          <a:lstStyle>
            <a:lvl1pPr>
              <a:defRPr sz="4300"/>
            </a:lvl1pPr>
            <a:lvl2pPr>
              <a:defRPr sz="36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8243316"/>
            <a:ext cx="15544800" cy="891540"/>
          </a:xfrm>
        </p:spPr>
        <p:txBody>
          <a:bodyPr anchor="b"/>
          <a:lstStyle>
            <a:lvl1pPr algn="ctr">
              <a:defRPr sz="39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9144000"/>
            <a:ext cx="15544802" cy="914400"/>
          </a:xfrm>
        </p:spPr>
        <p:txBody>
          <a:bodyPr>
            <a:normAutofit/>
          </a:bodyPr>
          <a:lstStyle>
            <a:lvl1pPr marL="0" indent="0" algn="ctr">
              <a:buNone/>
              <a:defRPr sz="2900"/>
            </a:lvl1pPr>
            <a:lvl2pPr marL="816422" indent="0">
              <a:buNone/>
              <a:defRPr sz="2100"/>
            </a:lvl2pPr>
            <a:lvl3pPr marL="1632844" indent="0">
              <a:buNone/>
              <a:defRPr sz="1800"/>
            </a:lvl3pPr>
            <a:lvl4pPr marL="2449266" indent="0">
              <a:buNone/>
              <a:defRPr sz="1600"/>
            </a:lvl4pPr>
            <a:lvl5pPr marL="3265688" indent="0">
              <a:buNone/>
              <a:defRPr sz="1600"/>
            </a:lvl5pPr>
            <a:lvl6pPr marL="4082110" indent="0">
              <a:buNone/>
              <a:defRPr sz="1600"/>
            </a:lvl6pPr>
            <a:lvl7pPr marL="4898532" indent="0">
              <a:buNone/>
              <a:defRPr sz="1600"/>
            </a:lvl7pPr>
            <a:lvl8pPr marL="5714954" indent="0">
              <a:buNone/>
              <a:defRPr sz="1600"/>
            </a:lvl8pPr>
            <a:lvl9pPr marL="6531376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571500"/>
            <a:ext cx="15544800" cy="74142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8242917"/>
            <a:ext cx="15544800" cy="891939"/>
          </a:xfrm>
        </p:spPr>
        <p:txBody>
          <a:bodyPr anchor="b"/>
          <a:lstStyle>
            <a:lvl1pPr algn="ctr">
              <a:defRPr sz="39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6916400" cy="8229600"/>
          </a:xfrm>
        </p:spPr>
        <p:txBody>
          <a:bodyPr/>
          <a:lstStyle>
            <a:lvl1pPr marL="0" indent="0">
              <a:buNone/>
              <a:defRPr sz="5700"/>
            </a:lvl1pPr>
            <a:lvl2pPr marL="816422" indent="0">
              <a:buNone/>
              <a:defRPr sz="5000"/>
            </a:lvl2pPr>
            <a:lvl3pPr marL="1632844" indent="0">
              <a:buNone/>
              <a:defRPr sz="4300"/>
            </a:lvl3pPr>
            <a:lvl4pPr marL="2449266" indent="0">
              <a:buNone/>
              <a:defRPr sz="3600"/>
            </a:lvl4pPr>
            <a:lvl5pPr marL="3265688" indent="0">
              <a:buNone/>
              <a:defRPr sz="3600"/>
            </a:lvl5pPr>
            <a:lvl6pPr marL="4082110" indent="0">
              <a:buNone/>
              <a:defRPr sz="3600"/>
            </a:lvl6pPr>
            <a:lvl7pPr marL="4898532" indent="0">
              <a:buNone/>
              <a:defRPr sz="3600"/>
            </a:lvl7pPr>
            <a:lvl8pPr marL="5714954" indent="0">
              <a:buNone/>
              <a:defRPr sz="3600"/>
            </a:lvl8pPr>
            <a:lvl9pPr marL="6531376" indent="0">
              <a:buNone/>
              <a:defRPr sz="3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3504" y="9144000"/>
            <a:ext cx="15544800" cy="918972"/>
          </a:xfrm>
        </p:spPr>
        <p:txBody>
          <a:bodyPr>
            <a:normAutofit/>
          </a:bodyPr>
          <a:lstStyle>
            <a:lvl1pPr marL="0" indent="0" algn="ctr">
              <a:buNone/>
              <a:defRPr sz="2900"/>
            </a:lvl1pPr>
            <a:lvl2pPr marL="816422" indent="0">
              <a:buNone/>
              <a:defRPr sz="2100"/>
            </a:lvl2pPr>
            <a:lvl3pPr marL="1632844" indent="0">
              <a:buNone/>
              <a:defRPr sz="1800"/>
            </a:lvl3pPr>
            <a:lvl4pPr marL="2449266" indent="0">
              <a:buNone/>
              <a:defRPr sz="1600"/>
            </a:lvl4pPr>
            <a:lvl5pPr marL="3265688" indent="0">
              <a:buNone/>
              <a:defRPr sz="1600"/>
            </a:lvl5pPr>
            <a:lvl6pPr marL="4082110" indent="0">
              <a:buNone/>
              <a:defRPr sz="1600"/>
            </a:lvl6pPr>
            <a:lvl7pPr marL="4898532" indent="0">
              <a:buNone/>
              <a:defRPr sz="1600"/>
            </a:lvl7pPr>
            <a:lvl8pPr marL="5714954" indent="0">
              <a:buNone/>
              <a:defRPr sz="1600"/>
            </a:lvl8pPr>
            <a:lvl9pPr marL="6531376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8"/>
            <a:ext cx="3505200" cy="8777288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8"/>
            <a:ext cx="12039600" cy="87772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>
            <a:spLocks noGrp="1"/>
          </p:cNvSpPr>
          <p:nvPr>
            <p:ph type="title"/>
          </p:nvPr>
        </p:nvSpPr>
        <p:spPr>
          <a:xfrm>
            <a:off x="721500" y="448997"/>
            <a:ext cx="16444200" cy="945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body" idx="1"/>
          </p:nvPr>
        </p:nvSpPr>
        <p:spPr>
          <a:xfrm>
            <a:off x="943800" y="2465798"/>
            <a:ext cx="7999800" cy="679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lvl1pPr marL="914400" lvl="0" indent="-635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1828800" lvl="1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○"/>
              <a:defRPr sz="2400"/>
            </a:lvl2pPr>
            <a:lvl3pPr marL="2743200" lvl="2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■"/>
              <a:defRPr sz="2400"/>
            </a:lvl3pPr>
            <a:lvl4pPr marL="3657600" lvl="3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●"/>
              <a:defRPr sz="2400"/>
            </a:lvl4pPr>
            <a:lvl5pPr marL="4572000" lvl="4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○"/>
              <a:defRPr sz="2400"/>
            </a:lvl5pPr>
            <a:lvl6pPr marL="5486400" lvl="5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■"/>
              <a:defRPr sz="2400"/>
            </a:lvl6pPr>
            <a:lvl7pPr marL="6400800" lvl="6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●"/>
              <a:defRPr sz="2400"/>
            </a:lvl7pPr>
            <a:lvl8pPr marL="7315200" lvl="7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○"/>
              <a:defRPr sz="2400"/>
            </a:lvl8pPr>
            <a:lvl9pPr marL="8229600" lvl="8" indent="-609600" algn="l">
              <a:lnSpc>
                <a:spcPct val="115000"/>
              </a:lnSpc>
              <a:spcBef>
                <a:spcPts val="3200"/>
              </a:spcBef>
              <a:spcAft>
                <a:spcPts val="3200"/>
              </a:spcAft>
              <a:buSzPts val="1200"/>
              <a:buChar char="■"/>
              <a:defRPr sz="2400"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2"/>
          </p:nvPr>
        </p:nvSpPr>
        <p:spPr>
          <a:xfrm>
            <a:off x="9388500" y="2465798"/>
            <a:ext cx="7999800" cy="679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lvl1pPr marL="914400" lvl="0" indent="-635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1828800" lvl="1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○"/>
              <a:defRPr sz="2400"/>
            </a:lvl2pPr>
            <a:lvl3pPr marL="2743200" lvl="2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■"/>
              <a:defRPr sz="2400"/>
            </a:lvl3pPr>
            <a:lvl4pPr marL="3657600" lvl="3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●"/>
              <a:defRPr sz="2400"/>
            </a:lvl4pPr>
            <a:lvl5pPr marL="4572000" lvl="4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○"/>
              <a:defRPr sz="2400"/>
            </a:lvl5pPr>
            <a:lvl6pPr marL="5486400" lvl="5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■"/>
              <a:defRPr sz="2400"/>
            </a:lvl6pPr>
            <a:lvl7pPr marL="6400800" lvl="6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●"/>
              <a:defRPr sz="2400"/>
            </a:lvl7pPr>
            <a:lvl8pPr marL="7315200" lvl="7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○"/>
              <a:defRPr sz="2400"/>
            </a:lvl8pPr>
            <a:lvl9pPr marL="8229600" lvl="8" indent="-609600" algn="l">
              <a:lnSpc>
                <a:spcPct val="115000"/>
              </a:lnSpc>
              <a:spcBef>
                <a:spcPts val="3200"/>
              </a:spcBef>
              <a:spcAft>
                <a:spcPts val="3200"/>
              </a:spcAft>
              <a:buSzPts val="1200"/>
              <a:buChar char="■"/>
              <a:defRPr sz="2400"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17047082" y="9391246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2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2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2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2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2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2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2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2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2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3281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5240000" cy="1714500"/>
          </a:xfrm>
          <a:prstGeom prst="rect">
            <a:avLst/>
          </a:prstGeom>
        </p:spPr>
        <p:txBody>
          <a:bodyPr vert="horz" lIns="163284" tIns="81642" rIns="163284" bIns="81642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5240000" cy="7200900"/>
          </a:xfrm>
          <a:prstGeom prst="rect">
            <a:avLst/>
          </a:prstGeom>
        </p:spPr>
        <p:txBody>
          <a:bodyPr vert="horz" lIns="163284" tIns="81642" rIns="163284" bIns="8164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6916400" y="0"/>
            <a:ext cx="137160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6916400" y="8229600"/>
            <a:ext cx="1371600" cy="102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063576" y="8473440"/>
            <a:ext cx="1097280" cy="59436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32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5765641" y="5981700"/>
            <a:ext cx="3550922" cy="731520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lvl1pPr algn="r">
              <a:defRPr sz="21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5712303" y="2377440"/>
            <a:ext cx="3657599" cy="731520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lvl1pPr algn="l">
              <a:defRPr sz="2100">
                <a:solidFill>
                  <a:schemeClr val="bg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1632844" rtl="0" eaLnBrk="1" latinLnBrk="0" hangingPunct="1">
        <a:spcBef>
          <a:spcPct val="0"/>
        </a:spcBef>
        <a:buNone/>
        <a:defRPr sz="8200" kern="1200" cap="none" spc="-179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612317" indent="-408211" algn="l" defTabSz="1632844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1142991" indent="-408211" algn="l" defTabSz="1632844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96128" indent="-408211" algn="l" defTabSz="1632844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982" indent="-408211" algn="l" defTabSz="1632844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775835" indent="-408211" algn="l" defTabSz="1632844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3102404" indent="-326569" algn="l" defTabSz="1632844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428973" indent="-326569" algn="l" defTabSz="1632844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3755541" indent="-326569" algn="l" defTabSz="1632844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082110" indent="-326569" algn="l" defTabSz="1632844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422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844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266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688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2110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532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954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376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traxelon.com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17" y="-50446"/>
            <a:ext cx="18307050" cy="10306050"/>
            <a:chOff x="0" y="0"/>
            <a:chExt cx="24409400" cy="1374140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E599">
                <a:alpha val="41569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09400" cy="13741400"/>
            </a:xfrm>
            <a:custGeom>
              <a:avLst/>
              <a:gdLst/>
              <a:ahLst/>
              <a:cxnLst/>
              <a:rect l="l" t="t" r="r" b="b"/>
              <a:pathLst>
                <a:path w="24409400" h="13741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3728700"/>
                  </a:lnTo>
                  <a:cubicBezTo>
                    <a:pt x="24409400" y="13735686"/>
                    <a:pt x="24403686" y="13741400"/>
                    <a:pt x="24396700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700" y="13716000"/>
                  </a:lnTo>
                  <a:lnTo>
                    <a:pt x="24396700" y="13728700"/>
                  </a:lnTo>
                  <a:lnTo>
                    <a:pt x="24384000" y="137287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2719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57605" y="581116"/>
            <a:ext cx="14886410" cy="1084912"/>
            <a:chOff x="0" y="0"/>
            <a:chExt cx="19848546" cy="14465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848547" cy="1446550"/>
            </a:xfrm>
            <a:custGeom>
              <a:avLst/>
              <a:gdLst/>
              <a:ahLst/>
              <a:cxnLst/>
              <a:rect l="l" t="t" r="r" b="b"/>
              <a:pathLst>
                <a:path w="19848547" h="1446550">
                  <a:moveTo>
                    <a:pt x="0" y="0"/>
                  </a:moveTo>
                  <a:lnTo>
                    <a:pt x="19848547" y="0"/>
                  </a:lnTo>
                  <a:lnTo>
                    <a:pt x="19848547" y="1446550"/>
                  </a:lnTo>
                  <a:lnTo>
                    <a:pt x="0" y="1446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9848546" cy="1503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VISVESVARAYA TECHNOLOGICAL UNIVERSITY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JNANA SANGAMA BELAGAVI - 590 018, KARNATAKA.</a:t>
              </a:r>
            </a:p>
            <a:p>
              <a:pPr algn="l">
                <a:lnSpc>
                  <a:spcPts val="2520"/>
                </a:lnSpc>
              </a:pPr>
              <a:endParaRPr lang="en-US" sz="1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564116" y="6386657"/>
            <a:ext cx="8505256" cy="2366974"/>
            <a:chOff x="0" y="-201309"/>
            <a:chExt cx="11340341" cy="31559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026716" cy="2954656"/>
            </a:xfrm>
            <a:custGeom>
              <a:avLst/>
              <a:gdLst/>
              <a:ahLst/>
              <a:cxnLst/>
              <a:rect l="l" t="t" r="r" b="b"/>
              <a:pathLst>
                <a:path w="9026716" h="2954656">
                  <a:moveTo>
                    <a:pt x="0" y="0"/>
                  </a:moveTo>
                  <a:lnTo>
                    <a:pt x="9026716" y="0"/>
                  </a:lnTo>
                  <a:lnTo>
                    <a:pt x="9026716" y="2954656"/>
                  </a:lnTo>
                  <a:lnTo>
                    <a:pt x="0" y="29546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13625" y="-201309"/>
              <a:ext cx="9026716" cy="30022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endParaRPr dirty="0"/>
            </a:p>
            <a:p>
              <a:pPr algn="ctr">
                <a:lnSpc>
                  <a:spcPts val="2939"/>
                </a:lnSpc>
              </a:pPr>
              <a:r>
                <a:rPr lang="en-US" sz="2449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Presented  by</a:t>
              </a:r>
            </a:p>
            <a:p>
              <a:pPr algn="ctr">
                <a:lnSpc>
                  <a:spcPts val="2520"/>
                </a:lnSpc>
              </a:pPr>
              <a:endParaRPr lang="en-US" sz="2100" b="1" dirty="0">
                <a:solidFill>
                  <a:srgbClr val="5B9BD3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ctr">
                <a:lnSpc>
                  <a:spcPts val="2520"/>
                </a:lnSpc>
              </a:pPr>
              <a:endParaRPr lang="en-US" sz="2100" b="1" dirty="0">
                <a:solidFill>
                  <a:srgbClr val="5B9BD3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l">
                <a:lnSpc>
                  <a:spcPts val="2520"/>
                </a:lnSpc>
              </a:pPr>
              <a:endParaRPr lang="en-US" sz="2100" b="1" dirty="0">
                <a:solidFill>
                  <a:srgbClr val="5B9BD3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789445" y="1580496"/>
            <a:ext cx="12502800" cy="2723823"/>
            <a:chOff x="0" y="0"/>
            <a:chExt cx="16670400" cy="36317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670400" cy="3631764"/>
            </a:xfrm>
            <a:custGeom>
              <a:avLst/>
              <a:gdLst/>
              <a:ahLst/>
              <a:cxnLst/>
              <a:rect l="l" t="t" r="r" b="b"/>
              <a:pathLst>
                <a:path w="16670400" h="3631764">
                  <a:moveTo>
                    <a:pt x="0" y="0"/>
                  </a:moveTo>
                  <a:lnTo>
                    <a:pt x="16670400" y="0"/>
                  </a:lnTo>
                  <a:lnTo>
                    <a:pt x="16670400" y="3631764"/>
                  </a:lnTo>
                  <a:lnTo>
                    <a:pt x="0" y="36317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23825"/>
              <a:ext cx="16670400" cy="3755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endPara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ctr">
                <a:lnSpc>
                  <a:spcPts val="4320"/>
                </a:lnSpc>
              </a:pPr>
              <a:endPara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ctr">
                <a:lnSpc>
                  <a:spcPts val="4320"/>
                </a:lnSpc>
              </a:pPr>
              <a:r>
                <a:rPr lang="en-US" sz="3600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Department of Computer Science &amp; Engineering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558240" y="484348"/>
            <a:ext cx="1731516" cy="1546886"/>
          </a:xfrm>
          <a:custGeom>
            <a:avLst/>
            <a:gdLst/>
            <a:ahLst/>
            <a:cxnLst/>
            <a:rect l="l" t="t" r="r" b="b"/>
            <a:pathLst>
              <a:path w="1731516" h="1546886">
                <a:moveTo>
                  <a:pt x="0" y="0"/>
                </a:moveTo>
                <a:lnTo>
                  <a:pt x="1731516" y="0"/>
                </a:lnTo>
                <a:lnTo>
                  <a:pt x="1731516" y="1546886"/>
                </a:lnTo>
                <a:lnTo>
                  <a:pt x="0" y="15468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1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10977684" y="5814891"/>
            <a:ext cx="7310316" cy="2908488"/>
            <a:chOff x="0" y="0"/>
            <a:chExt cx="9747088" cy="387798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747088" cy="3877984"/>
            </a:xfrm>
            <a:custGeom>
              <a:avLst/>
              <a:gdLst/>
              <a:ahLst/>
              <a:cxnLst/>
              <a:rect l="l" t="t" r="r" b="b"/>
              <a:pathLst>
                <a:path w="9747088" h="3877984">
                  <a:moveTo>
                    <a:pt x="0" y="0"/>
                  </a:moveTo>
                  <a:lnTo>
                    <a:pt x="9747088" y="0"/>
                  </a:lnTo>
                  <a:lnTo>
                    <a:pt x="9747088" y="3877984"/>
                  </a:lnTo>
                  <a:lnTo>
                    <a:pt x="0" y="38779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9747088" cy="39256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endParaRPr dirty="0"/>
            </a:p>
            <a:p>
              <a:pPr algn="ctr">
                <a:lnSpc>
                  <a:spcPts val="2520"/>
                </a:lnSpc>
              </a:pPr>
              <a:endParaRPr dirty="0"/>
            </a:p>
            <a:p>
              <a:pPr algn="ctr">
                <a:lnSpc>
                  <a:spcPts val="2939"/>
                </a:lnSpc>
              </a:pPr>
              <a:r>
                <a:rPr lang="en-US" sz="2449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Under the Guidance of 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1" dirty="0">
                  <a:solidFill>
                    <a:srgbClr val="5B9BD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	</a:t>
              </a:r>
            </a:p>
            <a:p>
              <a:pPr algn="ctr">
                <a:lnSpc>
                  <a:spcPts val="2520"/>
                </a:lnSpc>
              </a:pPr>
              <a:endParaRPr lang="en-US" sz="2100" b="1" dirty="0">
                <a:solidFill>
                  <a:srgbClr val="5B9BD3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ctr">
                <a:lnSpc>
                  <a:spcPts val="2520"/>
                </a:lnSpc>
              </a:pPr>
              <a:endParaRPr lang="en-US" sz="2100" b="1" dirty="0">
                <a:solidFill>
                  <a:srgbClr val="5B9BD3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l">
                <a:lnSpc>
                  <a:spcPts val="2520"/>
                </a:lnSpc>
              </a:pPr>
              <a:endParaRPr lang="en-US" sz="2100" b="1" dirty="0">
                <a:solidFill>
                  <a:srgbClr val="5B9BD3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1103" y="5056294"/>
            <a:ext cx="17805970" cy="1499790"/>
            <a:chOff x="0" y="0"/>
            <a:chExt cx="23741294" cy="19997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3741253" cy="1999742"/>
            </a:xfrm>
            <a:custGeom>
              <a:avLst/>
              <a:gdLst/>
              <a:ahLst/>
              <a:cxnLst/>
              <a:rect l="l" t="t" r="r" b="b"/>
              <a:pathLst>
                <a:path w="23741253" h="1999742">
                  <a:moveTo>
                    <a:pt x="0" y="0"/>
                  </a:moveTo>
                  <a:lnTo>
                    <a:pt x="23741253" y="0"/>
                  </a:lnTo>
                  <a:lnTo>
                    <a:pt x="23741253" y="1999742"/>
                  </a:lnTo>
                  <a:lnTo>
                    <a:pt x="0" y="1999742"/>
                  </a:lnTo>
                  <a:close/>
                </a:path>
              </a:pathLst>
            </a:custGeom>
            <a:solidFill>
              <a:srgbClr val="D8E2F3">
                <a:alpha val="47059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71072" y="4278077"/>
            <a:ext cx="17805970" cy="2059359"/>
            <a:chOff x="0" y="0"/>
            <a:chExt cx="23741294" cy="133908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3741253" cy="1339088"/>
            </a:xfrm>
            <a:custGeom>
              <a:avLst/>
              <a:gdLst/>
              <a:ahLst/>
              <a:cxnLst/>
              <a:rect l="l" t="t" r="r" b="b"/>
              <a:pathLst>
                <a:path w="23741253" h="1339088">
                  <a:moveTo>
                    <a:pt x="0" y="0"/>
                  </a:moveTo>
                  <a:lnTo>
                    <a:pt x="23741253" y="0"/>
                  </a:lnTo>
                  <a:lnTo>
                    <a:pt x="23741253" y="1339088"/>
                  </a:lnTo>
                  <a:lnTo>
                    <a:pt x="0" y="1339088"/>
                  </a:lnTo>
                  <a:close/>
                </a:path>
              </a:pathLst>
            </a:custGeom>
            <a:solidFill>
              <a:srgbClr val="D8E2F3">
                <a:alpha val="47059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23741294" cy="14343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dirty="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Industry Internship [CS82231C] presentation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-71767" y="-19761"/>
            <a:ext cx="18345150" cy="10344150"/>
            <a:chOff x="0" y="0"/>
            <a:chExt cx="24460200" cy="13792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4460200" cy="13792200"/>
            </a:xfrm>
            <a:custGeom>
              <a:avLst/>
              <a:gdLst/>
              <a:ahLst/>
              <a:cxnLst/>
              <a:rect l="l" t="t" r="r" b="b"/>
              <a:pathLst>
                <a:path w="24460200" h="13792200">
                  <a:moveTo>
                    <a:pt x="38100" y="0"/>
                  </a:moveTo>
                  <a:lnTo>
                    <a:pt x="24422100" y="0"/>
                  </a:lnTo>
                  <a:cubicBezTo>
                    <a:pt x="24443182" y="0"/>
                    <a:pt x="24460200" y="17018"/>
                    <a:pt x="24460200" y="38100"/>
                  </a:cubicBezTo>
                  <a:lnTo>
                    <a:pt x="24460200" y="13754100"/>
                  </a:lnTo>
                  <a:cubicBezTo>
                    <a:pt x="24460200" y="13775182"/>
                    <a:pt x="24443182" y="13792200"/>
                    <a:pt x="24422100" y="13792200"/>
                  </a:cubicBezTo>
                  <a:lnTo>
                    <a:pt x="38100" y="13792200"/>
                  </a:lnTo>
                  <a:cubicBezTo>
                    <a:pt x="17018" y="13792200"/>
                    <a:pt x="0" y="13775182"/>
                    <a:pt x="0" y="13754100"/>
                  </a:cubicBezTo>
                  <a:lnTo>
                    <a:pt x="0" y="38100"/>
                  </a:lnTo>
                  <a:cubicBezTo>
                    <a:pt x="0" y="17018"/>
                    <a:pt x="17018" y="0"/>
                    <a:pt x="38100" y="0"/>
                  </a:cubicBezTo>
                  <a:moveTo>
                    <a:pt x="38100" y="76200"/>
                  </a:moveTo>
                  <a:lnTo>
                    <a:pt x="38100" y="38100"/>
                  </a:lnTo>
                  <a:lnTo>
                    <a:pt x="76200" y="38100"/>
                  </a:lnTo>
                  <a:lnTo>
                    <a:pt x="76200" y="13754100"/>
                  </a:lnTo>
                  <a:lnTo>
                    <a:pt x="38100" y="13754100"/>
                  </a:lnTo>
                  <a:lnTo>
                    <a:pt x="38100" y="13716000"/>
                  </a:lnTo>
                  <a:lnTo>
                    <a:pt x="24422100" y="13716000"/>
                  </a:lnTo>
                  <a:lnTo>
                    <a:pt x="24422100" y="13754100"/>
                  </a:lnTo>
                  <a:lnTo>
                    <a:pt x="24384000" y="13754100"/>
                  </a:lnTo>
                  <a:lnTo>
                    <a:pt x="24384000" y="38100"/>
                  </a:lnTo>
                  <a:lnTo>
                    <a:pt x="24422100" y="38100"/>
                  </a:lnTo>
                  <a:lnTo>
                    <a:pt x="24422100" y="76200"/>
                  </a:lnTo>
                  <a:lnTo>
                    <a:pt x="38100" y="76200"/>
                  </a:lnTo>
                  <a:close/>
                </a:path>
              </a:pathLst>
            </a:custGeom>
            <a:solidFill>
              <a:srgbClr val="42719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Freeform 33"/>
          <p:cNvSpPr/>
          <p:nvPr/>
        </p:nvSpPr>
        <p:spPr>
          <a:xfrm>
            <a:off x="1091121" y="9534524"/>
            <a:ext cx="4114800" cy="547688"/>
          </a:xfrm>
          <a:custGeom>
            <a:avLst/>
            <a:gdLst/>
            <a:ahLst/>
            <a:cxnLst/>
            <a:rect l="l" t="t" r="r" b="b"/>
            <a:pathLst>
              <a:path w="5486400" h="730250">
                <a:moveTo>
                  <a:pt x="0" y="0"/>
                </a:moveTo>
                <a:lnTo>
                  <a:pt x="5486400" y="0"/>
                </a:lnTo>
                <a:lnTo>
                  <a:pt x="5486400" y="730250"/>
                </a:lnTo>
                <a:lnTo>
                  <a:pt x="0" y="730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35" name="Group 35"/>
          <p:cNvGrpSpPr/>
          <p:nvPr/>
        </p:nvGrpSpPr>
        <p:grpSpPr>
          <a:xfrm>
            <a:off x="6057900" y="9510711"/>
            <a:ext cx="6172200" cy="547688"/>
            <a:chOff x="0" y="0"/>
            <a:chExt cx="8229600" cy="73025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88888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AY-2025-26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13809451" y="9624771"/>
            <a:ext cx="4114800" cy="547688"/>
          </a:xfrm>
          <a:custGeom>
            <a:avLst/>
            <a:gdLst/>
            <a:ahLst/>
            <a:cxnLst/>
            <a:rect l="l" t="t" r="r" b="b"/>
            <a:pathLst>
              <a:path w="5486400" h="730250">
                <a:moveTo>
                  <a:pt x="0" y="0"/>
                </a:moveTo>
                <a:lnTo>
                  <a:pt x="5486400" y="0"/>
                </a:lnTo>
                <a:lnTo>
                  <a:pt x="5486400" y="730250"/>
                </a:lnTo>
                <a:lnTo>
                  <a:pt x="0" y="730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41" name="Group 41"/>
          <p:cNvGrpSpPr/>
          <p:nvPr/>
        </p:nvGrpSpPr>
        <p:grpSpPr>
          <a:xfrm>
            <a:off x="-230283" y="7615382"/>
            <a:ext cx="7190830" cy="1338451"/>
            <a:chOff x="-1216312" y="-1"/>
            <a:chExt cx="9587773" cy="1784601"/>
          </a:xfrm>
        </p:grpSpPr>
        <p:sp>
          <p:nvSpPr>
            <p:cNvPr id="42" name="Freeform 42"/>
            <p:cNvSpPr/>
            <p:nvPr/>
          </p:nvSpPr>
          <p:spPr>
            <a:xfrm>
              <a:off x="-1216312" y="-1"/>
              <a:ext cx="8052608" cy="1363980"/>
            </a:xfrm>
            <a:custGeom>
              <a:avLst/>
              <a:gdLst/>
              <a:ahLst/>
              <a:cxnLst/>
              <a:rect l="l" t="t" r="r" b="b"/>
              <a:pathLst>
                <a:path w="8052608" h="1363980">
                  <a:moveTo>
                    <a:pt x="0" y="0"/>
                  </a:moveTo>
                  <a:lnTo>
                    <a:pt x="8052608" y="0"/>
                  </a:lnTo>
                  <a:lnTo>
                    <a:pt x="8052608" y="1363980"/>
                  </a:lnTo>
                  <a:lnTo>
                    <a:pt x="0" y="13639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18853" y="363470"/>
              <a:ext cx="8052608" cy="14211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99"/>
                </a:lnSpc>
              </a:pPr>
              <a:r>
                <a:rPr lang="en-US" sz="29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SHREYA K</a:t>
              </a:r>
            </a:p>
            <a:p>
              <a:pPr algn="l">
                <a:lnSpc>
                  <a:spcPts val="3599"/>
                </a:lnSpc>
              </a:pPr>
              <a:r>
                <a:rPr lang="en-US" sz="29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4SF22CS204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448800" y="7483173"/>
            <a:ext cx="7521795" cy="1470660"/>
            <a:chOff x="0" y="0"/>
            <a:chExt cx="5355174" cy="19608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355174" cy="1960880"/>
            </a:xfrm>
            <a:custGeom>
              <a:avLst/>
              <a:gdLst/>
              <a:ahLst/>
              <a:cxnLst/>
              <a:rect l="l" t="t" r="r" b="b"/>
              <a:pathLst>
                <a:path w="5355174" h="1960880">
                  <a:moveTo>
                    <a:pt x="0" y="0"/>
                  </a:moveTo>
                  <a:lnTo>
                    <a:pt x="5355174" y="0"/>
                  </a:lnTo>
                  <a:lnTo>
                    <a:pt x="5355174" y="1960880"/>
                  </a:lnTo>
                  <a:lnTo>
                    <a:pt x="0" y="1960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57150"/>
              <a:ext cx="5355174" cy="2018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99"/>
                </a:lnSpc>
              </a:pPr>
              <a:r>
                <a:rPr lang="en-US" sz="29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Mrs. Vidya V </a:t>
              </a:r>
              <a:r>
                <a:rPr lang="en-US" sz="2999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</a:t>
              </a:r>
              <a:endParaRPr lang="en-US" sz="2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>
                <a:lnSpc>
                  <a:spcPts val="3599"/>
                </a:lnSpc>
              </a:pPr>
              <a:r>
                <a:rPr lang="en-US" sz="29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Associate Professor, </a:t>
              </a:r>
            </a:p>
            <a:p>
              <a:pPr algn="l">
                <a:lnSpc>
                  <a:spcPts val="3599"/>
                </a:lnSpc>
              </a:pPr>
              <a:r>
                <a:rPr lang="en-US" sz="29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Dept of CS&amp;E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60227" y="4271771"/>
            <a:ext cx="17348496" cy="2190865"/>
            <a:chOff x="-195049" y="-1097255"/>
            <a:chExt cx="23131328" cy="2921155"/>
          </a:xfrm>
        </p:grpSpPr>
        <p:sp>
          <p:nvSpPr>
            <p:cNvPr id="48" name="Freeform 48"/>
            <p:cNvSpPr/>
            <p:nvPr/>
          </p:nvSpPr>
          <p:spPr>
            <a:xfrm>
              <a:off x="-105270" y="607826"/>
              <a:ext cx="23041549" cy="1216074"/>
            </a:xfrm>
            <a:custGeom>
              <a:avLst/>
              <a:gdLst/>
              <a:ahLst/>
              <a:cxnLst/>
              <a:rect l="l" t="t" r="r" b="b"/>
              <a:pathLst>
                <a:path w="23041549" h="1216074">
                  <a:moveTo>
                    <a:pt x="0" y="0"/>
                  </a:moveTo>
                  <a:lnTo>
                    <a:pt x="23041549" y="0"/>
                  </a:lnTo>
                  <a:lnTo>
                    <a:pt x="23041549" y="1216074"/>
                  </a:lnTo>
                  <a:lnTo>
                    <a:pt x="0" y="1216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-195049" y="-1097255"/>
              <a:ext cx="23041548" cy="121607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5303"/>
                </a:lnSpc>
              </a:pPr>
              <a:endParaRPr lang="en-US" sz="4419" b="1" dirty="0">
                <a:solidFill>
                  <a:srgbClr val="C55A11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endParaRPr>
            </a:p>
          </p:txBody>
        </p:sp>
      </p:grpSp>
      <p:sp>
        <p:nvSpPr>
          <p:cNvPr id="40" name="Freeform 14">
            <a:extLst>
              <a:ext uri="{FF2B5EF4-FFF2-40B4-BE49-F238E27FC236}">
                <a16:creationId xmlns:a16="http://schemas.microsoft.com/office/drawing/2014/main" id="{B45D0A80-C048-4BA6-AEED-EDD1A530F419}"/>
              </a:ext>
            </a:extLst>
          </p:cNvPr>
          <p:cNvSpPr/>
          <p:nvPr/>
        </p:nvSpPr>
        <p:spPr>
          <a:xfrm>
            <a:off x="5562600" y="1666028"/>
            <a:ext cx="5715000" cy="1173320"/>
          </a:xfrm>
          <a:custGeom>
            <a:avLst/>
            <a:gdLst/>
            <a:ahLst/>
            <a:cxnLst/>
            <a:rect l="l" t="t" r="r" b="b"/>
            <a:pathLst>
              <a:path w="3036095" h="554484">
                <a:moveTo>
                  <a:pt x="0" y="0"/>
                </a:moveTo>
                <a:lnTo>
                  <a:pt x="3036095" y="0"/>
                </a:lnTo>
                <a:lnTo>
                  <a:pt x="3036095" y="554484"/>
                </a:lnTo>
                <a:lnTo>
                  <a:pt x="0" y="554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8378" b="940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</a:br>
            <a:br>
              <a:rPr lang="en-US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Internship Completion Certificate/</a:t>
            </a:r>
            <a:b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Intermediate Certificate</a:t>
            </a:r>
            <a:endParaRPr lang="en-IN" sz="32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6" name="Freeform 14"/>
          <p:cNvSpPr/>
          <p:nvPr/>
        </p:nvSpPr>
        <p:spPr>
          <a:xfrm>
            <a:off x="13258800" y="571500"/>
            <a:ext cx="3036095" cy="554484"/>
          </a:xfrm>
          <a:custGeom>
            <a:avLst/>
            <a:gdLst/>
            <a:ahLst/>
            <a:cxnLst/>
            <a:rect l="l" t="t" r="r" b="b"/>
            <a:pathLst>
              <a:path w="3036095" h="554484">
                <a:moveTo>
                  <a:pt x="0" y="0"/>
                </a:moveTo>
                <a:lnTo>
                  <a:pt x="3036095" y="0"/>
                </a:lnTo>
                <a:lnTo>
                  <a:pt x="3036095" y="554484"/>
                </a:lnTo>
                <a:lnTo>
                  <a:pt x="0" y="554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8378" b="94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10"/>
          <p:cNvSpPr txBox="1"/>
          <p:nvPr/>
        </p:nvSpPr>
        <p:spPr>
          <a:xfrm>
            <a:off x="6934200" y="571500"/>
            <a:ext cx="5007770" cy="72107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</a:t>
            </a:r>
          </a:p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Science &amp; Engineering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6C34BE-71DF-6B25-F069-2DB59D6636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00" y="1394915"/>
            <a:ext cx="8743399" cy="848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85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</a:br>
            <a:br>
              <a:rPr lang="en-US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</a:br>
            <a:r>
              <a:rPr lang="en-US" sz="4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Table of Contents</a:t>
            </a:r>
            <a:endParaRPr lang="en-IN" sz="40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87036" y="2641113"/>
            <a:ext cx="18000964" cy="8822442"/>
          </a:xfrm>
        </p:spPr>
        <p:txBody>
          <a:bodyPr/>
          <a:lstStyle/>
          <a:p>
            <a:pPr marL="279400" indent="0" algn="just">
              <a:lnSpc>
                <a:spcPct val="150000"/>
              </a:lnSpc>
              <a:buNone/>
            </a:pPr>
            <a:endParaRPr lang="en-IN" sz="32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6" name="Freeform 14"/>
          <p:cNvSpPr/>
          <p:nvPr/>
        </p:nvSpPr>
        <p:spPr>
          <a:xfrm>
            <a:off x="13258800" y="571500"/>
            <a:ext cx="3036095" cy="554484"/>
          </a:xfrm>
          <a:custGeom>
            <a:avLst/>
            <a:gdLst/>
            <a:ahLst/>
            <a:cxnLst/>
            <a:rect l="l" t="t" r="r" b="b"/>
            <a:pathLst>
              <a:path w="3036095" h="554484">
                <a:moveTo>
                  <a:pt x="0" y="0"/>
                </a:moveTo>
                <a:lnTo>
                  <a:pt x="3036095" y="0"/>
                </a:lnTo>
                <a:lnTo>
                  <a:pt x="3036095" y="554484"/>
                </a:lnTo>
                <a:lnTo>
                  <a:pt x="0" y="554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8378" b="94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10"/>
          <p:cNvSpPr txBox="1"/>
          <p:nvPr/>
        </p:nvSpPr>
        <p:spPr>
          <a:xfrm>
            <a:off x="6934200" y="571500"/>
            <a:ext cx="5007770" cy="72107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</a:t>
            </a:r>
          </a:p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Science &amp; Engineering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1916113"/>
            <a:ext cx="15106050" cy="688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9042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Objectives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87036" y="2641113"/>
            <a:ext cx="18000964" cy="882244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gap between academia and industry</a:t>
            </a:r>
          </a:p>
          <a:p>
            <a:pPr algn="just">
              <a:lnSpc>
                <a:spcPct val="15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achieve real world work experience.</a:t>
            </a:r>
          </a:p>
          <a:p>
            <a:pPr algn="just">
              <a:lnSpc>
                <a:spcPct val="15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advanced techniques associated to related field.</a:t>
            </a:r>
          </a:p>
          <a:p>
            <a:pPr algn="just">
              <a:lnSpc>
                <a:spcPct val="15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skills and techniques.</a:t>
            </a:r>
          </a:p>
          <a:p>
            <a:pPr marL="279400" indent="0" algn="just">
              <a:lnSpc>
                <a:spcPct val="150000"/>
              </a:lnSpc>
              <a:buNone/>
            </a:pPr>
            <a:endParaRPr lang="en-IN" sz="32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6" name="Freeform 14"/>
          <p:cNvSpPr/>
          <p:nvPr/>
        </p:nvSpPr>
        <p:spPr>
          <a:xfrm>
            <a:off x="12649200" y="571500"/>
            <a:ext cx="3036095" cy="554484"/>
          </a:xfrm>
          <a:custGeom>
            <a:avLst/>
            <a:gdLst/>
            <a:ahLst/>
            <a:cxnLst/>
            <a:rect l="l" t="t" r="r" b="b"/>
            <a:pathLst>
              <a:path w="3036095" h="554484">
                <a:moveTo>
                  <a:pt x="0" y="0"/>
                </a:moveTo>
                <a:lnTo>
                  <a:pt x="3036095" y="0"/>
                </a:lnTo>
                <a:lnTo>
                  <a:pt x="3036095" y="554484"/>
                </a:lnTo>
                <a:lnTo>
                  <a:pt x="0" y="554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8378" b="94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10"/>
          <p:cNvSpPr txBox="1"/>
          <p:nvPr/>
        </p:nvSpPr>
        <p:spPr>
          <a:xfrm>
            <a:off x="6400800" y="571500"/>
            <a:ext cx="5007770" cy="72107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</a:t>
            </a:r>
          </a:p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Science &amp; Engineering</a:t>
            </a:r>
          </a:p>
        </p:txBody>
      </p:sp>
    </p:spTree>
    <p:extLst>
      <p:ext uri="{BB962C8B-B14F-4D97-AF65-F5344CB8AC3E}">
        <p14:creationId xmlns:p14="http://schemas.microsoft.com/office/powerpoint/2010/main" val="973428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body" idx="1"/>
          </p:nvPr>
        </p:nvSpPr>
        <p:spPr>
          <a:xfrm>
            <a:off x="-33338" y="1031007"/>
            <a:ext cx="18144482" cy="905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279400" indent="0"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None/>
            </a:pPr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areas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US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Managed Security Operations Center (MSOC)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US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Managed Network Operations Center (MNOC)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US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Incident and Event Management (SIEM)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US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Endpoint Detection and Response (EDR)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ID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Access Control (NAC)</a:t>
            </a:r>
            <a:endParaRPr lang="en-US" sz="30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ID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Loss Prevention (DLP)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US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Identity and Access Management (IAM)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ID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Privileged Access Management (PAM)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ID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Security &amp; Services</a:t>
            </a:r>
            <a:endParaRPr lang="en-US" sz="30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ID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Cyber Security Controls Assessment Audit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US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Assessment and Penetration Testing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ID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Patch Management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ID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development </a:t>
            </a:r>
            <a:endParaRPr lang="en-IN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fld id="{00000000-1234-1234-1234-123412341234}" type="slidenum"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/>
              <a:t>5</a:t>
            </a:fld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91261" y="322416"/>
            <a:ext cx="9876442" cy="800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spAutoFit/>
          </a:bodyPr>
          <a:lstStyle/>
          <a:p>
            <a:r>
              <a:rPr lang="en-GB" sz="40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About the Company</a:t>
            </a:r>
            <a:r>
              <a:rPr lang="en-GB" sz="40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4000" dirty="0"/>
          </a:p>
        </p:txBody>
      </p:sp>
      <p:sp>
        <p:nvSpPr>
          <p:cNvPr id="5" name="TextBox 10"/>
          <p:cNvSpPr txBox="1"/>
          <p:nvPr/>
        </p:nvSpPr>
        <p:spPr>
          <a:xfrm>
            <a:off x="7162800" y="525544"/>
            <a:ext cx="5007770" cy="72107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</a:t>
            </a:r>
          </a:p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Science &amp; Engineering</a:t>
            </a:r>
          </a:p>
        </p:txBody>
      </p:sp>
      <p:sp>
        <p:nvSpPr>
          <p:cNvPr id="6" name="Freeform 14"/>
          <p:cNvSpPr/>
          <p:nvPr/>
        </p:nvSpPr>
        <p:spPr>
          <a:xfrm>
            <a:off x="12877800" y="525544"/>
            <a:ext cx="3036095" cy="554484"/>
          </a:xfrm>
          <a:custGeom>
            <a:avLst/>
            <a:gdLst/>
            <a:ahLst/>
            <a:cxnLst/>
            <a:rect l="l" t="t" r="r" b="b"/>
            <a:pathLst>
              <a:path w="3036095" h="554484">
                <a:moveTo>
                  <a:pt x="0" y="0"/>
                </a:moveTo>
                <a:lnTo>
                  <a:pt x="3036095" y="0"/>
                </a:lnTo>
                <a:lnTo>
                  <a:pt x="3036095" y="554484"/>
                </a:lnTo>
                <a:lnTo>
                  <a:pt x="0" y="554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8378" b="9403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835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B9CCAA83-A09E-280C-D9BB-2947A6E68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>
            <a:extLst>
              <a:ext uri="{FF2B5EF4-FFF2-40B4-BE49-F238E27FC236}">
                <a16:creationId xmlns:a16="http://schemas.microsoft.com/office/drawing/2014/main" id="{1E842CD1-3869-BBAB-0E22-0E53DF552B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14287" y="0"/>
            <a:ext cx="17068800" cy="10971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279400" indent="0"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None/>
            </a:pPr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Product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Wingdings" panose="05000000000000000000" pitchFamily="2" charset="2"/>
              <a:buChar char="q"/>
            </a:pPr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Safe Girl</a:t>
            </a:r>
          </a:p>
          <a:p>
            <a:pPr marL="279400" indent="0"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None/>
            </a:pPr>
            <a:r>
              <a:rPr lang="en-US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Cyber Safe Girl is a unique program inspired by the honorable Prime Minister Narendra Modi </a:t>
            </a:r>
            <a:r>
              <a:rPr lang="en-US" sz="3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ji's</a:t>
            </a:r>
            <a:r>
              <a:rPr lang="en-US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"Beti </a:t>
            </a:r>
            <a:r>
              <a:rPr lang="en-US" sz="3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Bachao</a:t>
            </a:r>
            <a:r>
              <a:rPr lang="en-US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Beti </a:t>
            </a:r>
            <a:r>
              <a:rPr lang="en-US" sz="3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Padhao</a:t>
            </a:r>
            <a:r>
              <a:rPr lang="en-US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". The mission of this project is "Beti </a:t>
            </a:r>
            <a:r>
              <a:rPr lang="en-US" sz="3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Bachao</a:t>
            </a:r>
            <a:r>
              <a:rPr lang="en-US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Cyber Crime Se", designed to inculcate the best practices of responsible browsing and stay safe and secure from the cyber threats, especially among the students, elderly and working professionals.</a:t>
            </a:r>
            <a:r>
              <a:rPr lang="en-US" sz="3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Cyber Safe Girl is an E-Learning Program, containing 70+ animated </a:t>
            </a:r>
            <a:r>
              <a:rPr lang="en-US" sz="30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infotoons</a:t>
            </a:r>
            <a:r>
              <a:rPr lang="en-US" sz="3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explained in detail by Dr. Ananth Prabhu G.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Wingdings" panose="05000000000000000000" pitchFamily="2" charset="2"/>
              <a:buChar char="q"/>
            </a:pP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Traxelon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(</a:t>
            </a:r>
            <a:r>
              <a:rPr lang="en-US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Tactical Recovery &amp; Analytics </a:t>
            </a:r>
            <a:r>
              <a:rPr lang="en-US" sz="3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eXchange</a:t>
            </a:r>
            <a:r>
              <a:rPr lang="en-US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Enforcement &amp; Law‑Oriented Networks</a:t>
            </a:r>
            <a:r>
              <a:rPr lang="en-US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)</a:t>
            </a:r>
            <a:endParaRPr lang="en-US" sz="3200" b="1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279400" indent="0"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None/>
            </a:pPr>
            <a:r>
              <a:rPr lang="en-US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specialized intelligence platform built for law enforcement agencies to conduct covert digital surveillance operations with precision and legality.</a:t>
            </a:r>
            <a:r>
              <a:rPr lang="en-ID" sz="2000" b="0" i="0" dirty="0">
                <a:solidFill>
                  <a:srgbClr val="00D4FF"/>
                </a:solidFill>
                <a:effectLst/>
                <a:latin typeface="Bebas Neue" panose="020F0502020204030204" pitchFamily="34" charset="0"/>
              </a:rPr>
              <a:t> </a:t>
            </a:r>
          </a:p>
          <a:p>
            <a:pPr marL="279400" indent="0"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None/>
            </a:pPr>
            <a:r>
              <a:rPr lang="en-ID" sz="3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TRAX – </a:t>
            </a:r>
            <a:r>
              <a:rPr lang="en-ID" sz="3000" b="0" i="0" cap="all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Trace, Tracking, Trajectory</a:t>
            </a:r>
          </a:p>
          <a:p>
            <a:pPr marL="279400" indent="0"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None/>
            </a:pPr>
            <a:r>
              <a:rPr lang="en-ID" sz="3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ELON</a:t>
            </a:r>
            <a:r>
              <a:rPr lang="en-ID" sz="30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D" sz="3000" b="0" i="0" cap="all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Electron, Element, Echelon, </a:t>
            </a:r>
            <a:r>
              <a:rPr lang="en-ID" sz="30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Elon MUSK </a:t>
            </a:r>
          </a:p>
          <a:p>
            <a:pPr marL="279400" indent="0"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None/>
            </a:pPr>
            <a:endParaRPr lang="en-IN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AD8B4AFD-807B-2621-4532-FE279A5B2565}"/>
              </a:ext>
            </a:extLst>
          </p:cNvPr>
          <p:cNvSpPr txBox="1"/>
          <p:nvPr/>
        </p:nvSpPr>
        <p:spPr>
          <a:xfrm>
            <a:off x="7162800" y="525544"/>
            <a:ext cx="5007770" cy="72107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</a:t>
            </a:r>
          </a:p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Science &amp; Engineering</a:t>
            </a:r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2F7426C4-9468-E375-E630-2AB98A2B276C}"/>
              </a:ext>
            </a:extLst>
          </p:cNvPr>
          <p:cNvSpPr/>
          <p:nvPr/>
        </p:nvSpPr>
        <p:spPr>
          <a:xfrm>
            <a:off x="12877800" y="525544"/>
            <a:ext cx="3036095" cy="554484"/>
          </a:xfrm>
          <a:custGeom>
            <a:avLst/>
            <a:gdLst/>
            <a:ahLst/>
            <a:cxnLst/>
            <a:rect l="l" t="t" r="r" b="b"/>
            <a:pathLst>
              <a:path w="3036095" h="554484">
                <a:moveTo>
                  <a:pt x="0" y="0"/>
                </a:moveTo>
                <a:lnTo>
                  <a:pt x="3036095" y="0"/>
                </a:lnTo>
                <a:lnTo>
                  <a:pt x="3036095" y="554484"/>
                </a:lnTo>
                <a:lnTo>
                  <a:pt x="0" y="554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8378" b="9403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556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body" idx="1"/>
          </p:nvPr>
        </p:nvSpPr>
        <p:spPr>
          <a:xfrm>
            <a:off x="173998" y="1409700"/>
            <a:ext cx="18144482" cy="905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date – 15 January 2026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date – 7 May 2026.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duration – Sixteen (16) Weeks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– Web Developer Intern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(mentor name) – Mr Shravan Kumar U K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 hours – 9am to 4pm 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 days – Monday to Friday 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size – 07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in the Team - Web Developer</a:t>
            </a:r>
          </a:p>
        </p:txBody>
      </p:sp>
      <p:sp>
        <p:nvSpPr>
          <p:cNvPr id="87" name="Google Shape;87;p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fld id="{00000000-1234-1234-1234-123412341234}" type="slidenum"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/>
              <a:t>7</a:t>
            </a:fld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91261" y="322416"/>
            <a:ext cx="9876442" cy="800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spAutoFit/>
          </a:bodyPr>
          <a:lstStyle/>
          <a:p>
            <a:r>
              <a:rPr lang="en-GB" sz="40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Internship Details</a:t>
            </a:r>
            <a:r>
              <a:rPr lang="en-GB" sz="40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4000" dirty="0"/>
          </a:p>
        </p:txBody>
      </p:sp>
      <p:sp>
        <p:nvSpPr>
          <p:cNvPr id="6" name="TextBox 10"/>
          <p:cNvSpPr txBox="1"/>
          <p:nvPr/>
        </p:nvSpPr>
        <p:spPr>
          <a:xfrm>
            <a:off x="7620000" y="574076"/>
            <a:ext cx="5007770" cy="72107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</a:t>
            </a:r>
          </a:p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Science &amp; Engineering</a:t>
            </a:r>
          </a:p>
        </p:txBody>
      </p:sp>
      <p:sp>
        <p:nvSpPr>
          <p:cNvPr id="7" name="Freeform 14"/>
          <p:cNvSpPr/>
          <p:nvPr/>
        </p:nvSpPr>
        <p:spPr>
          <a:xfrm>
            <a:off x="13258800" y="566802"/>
            <a:ext cx="3036095" cy="554484"/>
          </a:xfrm>
          <a:custGeom>
            <a:avLst/>
            <a:gdLst/>
            <a:ahLst/>
            <a:cxnLst/>
            <a:rect l="l" t="t" r="r" b="b"/>
            <a:pathLst>
              <a:path w="3036095" h="554484">
                <a:moveTo>
                  <a:pt x="0" y="0"/>
                </a:moveTo>
                <a:lnTo>
                  <a:pt x="3036095" y="0"/>
                </a:lnTo>
                <a:lnTo>
                  <a:pt x="3036095" y="554484"/>
                </a:lnTo>
                <a:lnTo>
                  <a:pt x="0" y="554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8378" b="9403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086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0302D52F-4F13-3786-E9A1-C7011C184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>
            <a:extLst>
              <a:ext uri="{FF2B5EF4-FFF2-40B4-BE49-F238E27FC236}">
                <a16:creationId xmlns:a16="http://schemas.microsoft.com/office/drawing/2014/main" id="{266A652C-31F7-5AA5-1109-EFB6087EB2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152400" y="-419100"/>
            <a:ext cx="16840200" cy="8760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Wingdings" panose="05000000000000000000" pitchFamily="2" charset="2"/>
              <a:buChar char="q"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Traxelon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indent="-457200" algn="just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Traxelon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real-time person and vehicle tracking web application developed at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TorSecure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Cyber LLP, designed for law enforcement. It enables police departments to monitor suspects, vehicles, and field officers through a centralized digital dashboard.</a:t>
            </a:r>
          </a:p>
          <a:p>
            <a:pPr marL="800100" indent="-457200" algn="just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 : 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 enforcement agencies, police departments, and government security units across India.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: </a:t>
            </a:r>
          </a:p>
          <a:p>
            <a:pPr marL="279400" indent="0" algn="just">
              <a:lnSpc>
                <a:spcPct val="150000"/>
              </a:lnSpc>
              <a:spcBef>
                <a:spcPts val="900"/>
              </a:spcBef>
              <a:buClr>
                <a:schemeClr val="dk2"/>
              </a:buClr>
              <a:buNone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Real-Time Location Tracking</a:t>
            </a:r>
          </a:p>
          <a:p>
            <a:pPr marL="342900" indent="0" algn="just">
              <a:lnSpc>
                <a:spcPct val="150000"/>
              </a:lnSpc>
              <a:buClr>
                <a:schemeClr val="dk2"/>
              </a:buClr>
              <a:buNone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GPS-based tracking of registered persons and vehicles on an interactive map with minimal latency.</a:t>
            </a:r>
          </a:p>
          <a:p>
            <a:pPr marL="342900" indent="0" algn="just">
              <a:lnSpc>
                <a:spcPct val="150000"/>
              </a:lnSpc>
              <a:buClr>
                <a:schemeClr val="dk2"/>
              </a:buClr>
              <a:buNone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Search &amp; Filter Module</a:t>
            </a:r>
          </a:p>
          <a:p>
            <a:pPr marL="342900" indent="0" algn="just">
              <a:lnSpc>
                <a:spcPct val="150000"/>
              </a:lnSpc>
              <a:buClr>
                <a:schemeClr val="dk2"/>
              </a:buClr>
              <a:buNone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Officers can search by suspect name, ID, or vehicle registration number with filters for location, status.</a:t>
            </a:r>
          </a:p>
          <a:p>
            <a:pPr marL="342900" indent="0" algn="just">
              <a:lnSpc>
                <a:spcPct val="150000"/>
              </a:lnSpc>
              <a:buClr>
                <a:schemeClr val="dk2"/>
              </a:buClr>
              <a:buNone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Movement History &amp; Route Replay</a:t>
            </a:r>
          </a:p>
          <a:p>
            <a:pPr marL="685800" indent="-342900" algn="just">
              <a:lnSpc>
                <a:spcPct val="150000"/>
              </a:lnSpc>
              <a:buClr>
                <a:schemeClr val="dk2"/>
              </a:buClr>
              <a:buFont typeface="Arial" panose="020B0604020202020204" pitchFamily="34" charset="0"/>
              <a:buChar char="–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Time-stamped movement logs with route replay to reconstruct past movements during criminal investigations.</a:t>
            </a:r>
          </a:p>
          <a:p>
            <a:pPr marL="279400" indent="0"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Google Shape;110;p6">
            <a:extLst>
              <a:ext uri="{FF2B5EF4-FFF2-40B4-BE49-F238E27FC236}">
                <a16:creationId xmlns:a16="http://schemas.microsoft.com/office/drawing/2014/main" id="{DEECADE7-3976-6980-2368-1CD156F4A6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fld id="{00000000-1234-1234-1234-123412341234}" type="slidenum"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/>
              <a:t>8</a:t>
            </a:fld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428025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269D8B87-D009-066F-5BCC-CF7932BF0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>
            <a:extLst>
              <a:ext uri="{FF2B5EF4-FFF2-40B4-BE49-F238E27FC236}">
                <a16:creationId xmlns:a16="http://schemas.microsoft.com/office/drawing/2014/main" id="{19376077-8CA5-F2F7-F6E0-311DEE93A6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228600" y="-419100"/>
            <a:ext cx="16840200" cy="8760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279400" indent="0" algn="just">
              <a:lnSpc>
                <a:spcPct val="150000"/>
              </a:lnSpc>
              <a:spcBef>
                <a:spcPts val="900"/>
              </a:spcBef>
              <a:buClr>
                <a:schemeClr val="dk2"/>
              </a:buClr>
              <a:buNone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Geofencing Alerts</a:t>
            </a:r>
          </a:p>
          <a:p>
            <a:pPr marL="685800" indent="-342900" algn="just">
              <a:lnSpc>
                <a:spcPct val="150000"/>
              </a:lnSpc>
              <a:buClr>
                <a:schemeClr val="dk2"/>
              </a:buClr>
              <a:buFont typeface="Arial" panose="020B0604020202020204" pitchFamily="34" charset="0"/>
              <a:buChar char="–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alerts triggered when a tracked entity enters or exits a custom-defined virtual boundary zone.</a:t>
            </a:r>
          </a:p>
          <a:p>
            <a:pPr marL="279400" indent="0" algn="just">
              <a:lnSpc>
                <a:spcPct val="150000"/>
              </a:lnSpc>
              <a:spcBef>
                <a:spcPts val="900"/>
              </a:spcBef>
              <a:buClr>
                <a:schemeClr val="dk2"/>
              </a:buClr>
              <a:buNone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Role-Based Access Control</a:t>
            </a:r>
          </a:p>
          <a:p>
            <a:pPr marL="685800" indent="-342900" algn="just">
              <a:lnSpc>
                <a:spcPct val="150000"/>
              </a:lnSpc>
              <a:buClr>
                <a:schemeClr val="dk2"/>
              </a:buClr>
              <a:buFont typeface="Arial" panose="020B0604020202020204" pitchFamily="34" charset="0"/>
              <a:buChar char="–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data is accessible only to credentialed officers based on their role and clearance level.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 </a:t>
            </a:r>
          </a:p>
          <a:p>
            <a:pPr marL="279400" indent="0"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None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: 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for a dynamic, responsive interface; Leaflet.js / Google Maps API for interactive live maps.</a:t>
            </a:r>
          </a:p>
          <a:p>
            <a:pPr marL="279400" indent="0" algn="just">
              <a:lnSpc>
                <a:spcPct val="150000"/>
              </a:lnSpc>
              <a:spcBef>
                <a:spcPts val="900"/>
              </a:spcBef>
              <a:buClr>
                <a:schemeClr val="dk2"/>
              </a:buClr>
              <a:buNone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Backend : 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handle authentication, API routing, and real-time data processing.</a:t>
            </a:r>
          </a:p>
          <a:p>
            <a:pPr marL="279400" indent="0" algn="just">
              <a:lnSpc>
                <a:spcPct val="150000"/>
              </a:lnSpc>
              <a:spcBef>
                <a:spcPts val="900"/>
              </a:spcBef>
              <a:buClr>
                <a:schemeClr val="dk2"/>
              </a:buClr>
              <a:buNone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Database : 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</a:t>
            </a:r>
          </a:p>
          <a:p>
            <a:pPr marL="279400" indent="0" algn="just">
              <a:lnSpc>
                <a:spcPct val="150000"/>
              </a:lnSpc>
              <a:spcBef>
                <a:spcPts val="900"/>
              </a:spcBef>
              <a:buClr>
                <a:schemeClr val="dk2"/>
              </a:buClr>
              <a:buNone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Security : 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JWT-based authentication, HTTPS encryption, and role-based access control protect all data and sessions.</a:t>
            </a:r>
          </a:p>
          <a:p>
            <a:pPr marL="279400" indent="0" algn="just">
              <a:lnSpc>
                <a:spcPct val="150000"/>
              </a:lnSpc>
              <a:spcBef>
                <a:spcPts val="900"/>
              </a:spcBef>
              <a:buClr>
                <a:schemeClr val="dk2"/>
              </a:buClr>
              <a:buNone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Deployment 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the application on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connected a custom GoDaddy domain for live production hosting.</a:t>
            </a:r>
            <a:endParaRPr lang="en-IN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</a:pP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Google Shape;110;p6">
            <a:extLst>
              <a:ext uri="{FF2B5EF4-FFF2-40B4-BE49-F238E27FC236}">
                <a16:creationId xmlns:a16="http://schemas.microsoft.com/office/drawing/2014/main" id="{9AE1CCF6-2D01-F9C5-CC88-B4E8FA3A8C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fld id="{00000000-1234-1234-1234-123412341234}" type="slidenum">
              <a:rPr lang="en-GB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/>
              <a:t>9</a:t>
            </a:fld>
            <a:endParaRPr lang="en-GB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994639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C6B7E5A2-FF53-312F-1824-81441B045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>
            <a:extLst>
              <a:ext uri="{FF2B5EF4-FFF2-40B4-BE49-F238E27FC236}">
                <a16:creationId xmlns:a16="http://schemas.microsoft.com/office/drawing/2014/main" id="{4E53A9E4-AF79-BC83-8736-AC003193FB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15240" y="1154914"/>
            <a:ext cx="16931640" cy="883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279400" indent="0" algn="just">
              <a:lnSpc>
                <a:spcPct val="140000"/>
              </a:lnSpc>
              <a:spcBef>
                <a:spcPts val="900"/>
              </a:spcBef>
              <a:buClr>
                <a:schemeClr val="dk2"/>
              </a:buClr>
              <a:buNone/>
            </a:pP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Traxelon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successfully developed and deployed on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://traxelon.com/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spcBef>
                <a:spcPts val="9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Officer Safety</a:t>
            </a:r>
          </a:p>
          <a:p>
            <a:pPr marL="685800" indent="-342900" algn="just">
              <a:lnSpc>
                <a:spcPct val="130000"/>
              </a:lnSpc>
              <a:buClr>
                <a:schemeClr val="dk2"/>
              </a:buClr>
              <a:buFont typeface="Arial" panose="020B0604020202020204" pitchFamily="34" charset="0"/>
              <a:buChar char="–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 officers were monitored in real-time by the control room, enabling quick backup in high-risk situations.</a:t>
            </a:r>
          </a:p>
          <a:p>
            <a:pPr marL="685800" indent="-342900" algn="just">
              <a:lnSpc>
                <a:spcPct val="130000"/>
              </a:lnSpc>
              <a:buClr>
                <a:schemeClr val="dk2"/>
              </a:buClr>
              <a:buFont typeface="Arial" panose="020B0604020202020204" pitchFamily="34" charset="0"/>
              <a:buChar char="–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tracking reduced risks of solo surveillance by keeping command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informed of officer positions.</a:t>
            </a:r>
          </a:p>
          <a:p>
            <a:pPr algn="just">
              <a:lnSpc>
                <a:spcPct val="140000"/>
              </a:lnSpc>
              <a:spcBef>
                <a:spcPts val="9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Manpower Requirements</a:t>
            </a:r>
          </a:p>
          <a:p>
            <a:pPr marL="685800" indent="-342900" algn="just">
              <a:lnSpc>
                <a:spcPct val="130000"/>
              </a:lnSpc>
              <a:buClr>
                <a:schemeClr val="dk2"/>
              </a:buClr>
              <a:buFont typeface="Arial" panose="020B0604020202020204" pitchFamily="34" charset="0"/>
              <a:buChar char="–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operator could monitor multiple agents and suspects simultaneously, reducing need for large surveillance teams.</a:t>
            </a:r>
          </a:p>
          <a:p>
            <a:pPr marL="685800" indent="-342900" algn="just">
              <a:lnSpc>
                <a:spcPct val="130000"/>
              </a:lnSpc>
              <a:buClr>
                <a:schemeClr val="dk2"/>
              </a:buClr>
              <a:buFont typeface="Arial" panose="020B0604020202020204" pitchFamily="34" charset="0"/>
              <a:buChar char="–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check-ins and physical log maintenance were replaced with automated digital records.</a:t>
            </a:r>
          </a:p>
          <a:p>
            <a:pPr algn="just">
              <a:lnSpc>
                <a:spcPct val="140000"/>
              </a:lnSpc>
              <a:spcBef>
                <a:spcPts val="9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Pattern-Based Crime Prevention</a:t>
            </a:r>
          </a:p>
          <a:p>
            <a:pPr marL="685800" indent="-342900" algn="just">
              <a:lnSpc>
                <a:spcPct val="130000"/>
              </a:lnSpc>
              <a:buClr>
                <a:schemeClr val="dk2"/>
              </a:buClr>
              <a:buFont typeface="Arial" panose="020B0604020202020204" pitchFamily="34" charset="0"/>
              <a:buChar char="–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helped police identify movement patterns, enabling proactive crime prevention not just reactive response.</a:t>
            </a:r>
          </a:p>
          <a:p>
            <a:pPr marL="342900" indent="0" algn="just">
              <a:lnSpc>
                <a:spcPct val="130000"/>
              </a:lnSpc>
              <a:buClr>
                <a:schemeClr val="dk2"/>
              </a:buClr>
              <a:buNone/>
            </a:pPr>
            <a:endParaRPr lang="en-IN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Google Shape;110;p6">
            <a:extLst>
              <a:ext uri="{FF2B5EF4-FFF2-40B4-BE49-F238E27FC236}">
                <a16:creationId xmlns:a16="http://schemas.microsoft.com/office/drawing/2014/main" id="{BC3B5F4F-B9FB-9FB9-733E-26D00EBB23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fld id="{00000000-1234-1234-1234-123412341234}" type="slidenum"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/>
              <a:t>10</a:t>
            </a:fld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1" name="Google Shape;111;p6">
            <a:extLst>
              <a:ext uri="{FF2B5EF4-FFF2-40B4-BE49-F238E27FC236}">
                <a16:creationId xmlns:a16="http://schemas.microsoft.com/office/drawing/2014/main" id="{8C4E52FF-733E-4057-B2D5-D1F4A0A1E8DA}"/>
              </a:ext>
            </a:extLst>
          </p:cNvPr>
          <p:cNvSpPr/>
          <p:nvPr/>
        </p:nvSpPr>
        <p:spPr>
          <a:xfrm>
            <a:off x="376066" y="298314"/>
            <a:ext cx="14021252" cy="677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spAutoFit/>
          </a:bodyPr>
          <a:lstStyle/>
          <a:p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-  </a:t>
            </a:r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Traxelon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(Operational Impact)</a:t>
            </a:r>
            <a:endParaRPr lang="en-GB" sz="32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631078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03ED51A2-C196-3806-51EC-4FEEFF609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>
            <a:extLst>
              <a:ext uri="{FF2B5EF4-FFF2-40B4-BE49-F238E27FC236}">
                <a16:creationId xmlns:a16="http://schemas.microsoft.com/office/drawing/2014/main" id="{F8929CDB-9196-6717-21C8-93F7C4085A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fld id="{00000000-1234-1234-1234-123412341234}" type="slidenum"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/>
              <a:t>11</a:t>
            </a:fld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1" name="Google Shape;111;p6">
            <a:extLst>
              <a:ext uri="{FF2B5EF4-FFF2-40B4-BE49-F238E27FC236}">
                <a16:creationId xmlns:a16="http://schemas.microsoft.com/office/drawing/2014/main" id="{5D57E1A3-3602-D6C8-C513-6E3C175C77D0}"/>
              </a:ext>
            </a:extLst>
          </p:cNvPr>
          <p:cNvSpPr/>
          <p:nvPr/>
        </p:nvSpPr>
        <p:spPr>
          <a:xfrm>
            <a:off x="0" y="155690"/>
            <a:ext cx="14021252" cy="824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spAutoFit/>
          </a:bodyPr>
          <a:lstStyle/>
          <a:p>
            <a:pPr marL="342900" indent="0" algn="just">
              <a:lnSpc>
                <a:spcPct val="130000"/>
              </a:lnSpc>
              <a:buClr>
                <a:schemeClr val="dk2"/>
              </a:buClr>
              <a:buNone/>
            </a:pP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- </a:t>
            </a:r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Traxelon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(System Performance)</a:t>
            </a:r>
            <a:endParaRPr lang="en-I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56AD8A-D89A-5999-8E02-B1299B751F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723900"/>
            <a:ext cx="16078200" cy="11172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Platform Stability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Stable performance under concurrent user load with minimal latency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Ease of Use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Intuitive dashboard; minimal training required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Responsive design supported desktop and laptop access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Data Accuracy &amp; Security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 GPS positional accuracy with role-based access for confidentiality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Recognition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Commended by mentor Mr. Shravan U Kumar for practical applicability and technical execution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142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6641" y="-534626"/>
            <a:ext cx="18288000" cy="1286360"/>
          </a:xfrm>
        </p:spPr>
        <p:txBody>
          <a:bodyPr/>
          <a:lstStyle/>
          <a:p>
            <a:r>
              <a:rPr lang="en-IN" sz="3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Learning Outcomes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BF0CFC-A9FD-86F6-7F14-4C02E819B9D0}"/>
              </a:ext>
            </a:extLst>
          </p:cNvPr>
          <p:cNvSpPr txBox="1"/>
          <p:nvPr/>
        </p:nvSpPr>
        <p:spPr>
          <a:xfrm>
            <a:off x="104156" y="647700"/>
            <a:ext cx="16840200" cy="9063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 Gained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Hands-on experience in Next.js, React, Tailwind CSS, Node.js, and Firebase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authentication systems - Clerk (AI VS ME) and Firebase Auth 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Traxelon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Practiced component-based architecture, REST API integration, and real-time data handling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&amp; Industry Exposure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Experienced working in an Agile team environment, participating in daily standups, code reviews, and sprint planning sessions.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Collaborated with teammates on feature integration and UI consistency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Solving &amp; Project Ownership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Owned the complete frontend  from design to deployment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Debugged UI issues and delivered production-ready code under real timelines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Knowledge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AI to career intelligence and automation risk (AI VS ME)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Understood how technology contributes to public safety and law enforcement 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Traxelon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132725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"/>
          <p:cNvSpPr txBox="1">
            <a:spLocks noGrp="1"/>
          </p:cNvSpPr>
          <p:nvPr>
            <p:ph type="sldNum" sz="quarter" idx="12"/>
          </p:nvPr>
        </p:nvSpPr>
        <p:spPr>
          <a:xfrm>
            <a:off x="17047082" y="9391246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>
              <a:buSzPts val="1000"/>
            </a:pPr>
            <a:fld id="{00000000-1234-1234-1234-123412341234}" type="slidenum">
              <a:rPr lang="en-GB"/>
              <a:pPr>
                <a:buSzPts val="1000"/>
              </a:pPr>
              <a:t>13</a:t>
            </a:fld>
            <a:endParaRPr lang="en-GB"/>
          </a:p>
        </p:txBody>
      </p:sp>
      <p:sp>
        <p:nvSpPr>
          <p:cNvPr id="182" name="Google Shape;182;p14"/>
          <p:cNvSpPr txBox="1">
            <a:spLocks noGrp="1"/>
          </p:cNvSpPr>
          <p:nvPr>
            <p:ph type="title" idx="4294967295"/>
          </p:nvPr>
        </p:nvSpPr>
        <p:spPr>
          <a:xfrm>
            <a:off x="0" y="4017963"/>
            <a:ext cx="15192375" cy="152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>
              <a:spcBef>
                <a:spcPts val="0"/>
              </a:spcBef>
              <a:buSzPts val="3200"/>
            </a:pPr>
            <a:r>
              <a:rPr lang="en-GB" sz="8000" dirty="0">
                <a:solidFill>
                  <a:schemeClr val="bg2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</a:t>
            </a:r>
            <a:endParaRPr sz="8000" dirty="0">
              <a:solidFill>
                <a:schemeClr val="bg2">
                  <a:lumMod val="50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4802217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938</TotalTime>
  <Words>1014</Words>
  <Application>Microsoft Office PowerPoint</Application>
  <PresentationFormat>Custom</PresentationFormat>
  <Paragraphs>140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Times New Roman</vt:lpstr>
      <vt:lpstr>Arial Bold</vt:lpstr>
      <vt:lpstr>Wingdings</vt:lpstr>
      <vt:lpstr>EB Garamond Semi-Bold</vt:lpstr>
      <vt:lpstr>Calibri</vt:lpstr>
      <vt:lpstr>Times New Roman Bold</vt:lpstr>
      <vt:lpstr>Roboto</vt:lpstr>
      <vt:lpstr>Cambria</vt:lpstr>
      <vt:lpstr>Arial</vt:lpstr>
      <vt:lpstr>Bebas Neue</vt:lpstr>
      <vt:lpstr>Adjacency</vt:lpstr>
      <vt:lpstr>PowerPoint Presentation</vt:lpstr>
      <vt:lpstr>  Internship Completion Certificate/ Intermediate Certificate</vt:lpstr>
      <vt:lpstr>  Table of Contents</vt:lpstr>
      <vt:lpstr>Internship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Internship Learning Outcomes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Seminar PPT Templates.pptx</dc:title>
  <dc:creator>Harisha Airbail</dc:creator>
  <cp:lastModifiedBy>Shreya K</cp:lastModifiedBy>
  <cp:revision>34</cp:revision>
  <dcterms:created xsi:type="dcterms:W3CDTF">2006-08-16T00:00:00Z</dcterms:created>
  <dcterms:modified xsi:type="dcterms:W3CDTF">2026-04-22T09:02:15Z</dcterms:modified>
  <dc:identifier>DAGkoK3WB5k</dc:identifier>
</cp:coreProperties>
</file>